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2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3657600"/>
            <a:ext cx="219456" cy="2743200"/>
            <a:chOff x="0" y="0"/>
            <a:chExt cx="292608" cy="3657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608" cy="3657600"/>
            </a:xfrm>
            <a:custGeom>
              <a:avLst/>
              <a:gdLst/>
              <a:ahLst/>
              <a:cxnLst/>
              <a:rect l="l" t="t" r="r" b="b"/>
              <a:pathLst>
                <a:path w="292608" h="3657600">
                  <a:moveTo>
                    <a:pt x="0" y="0"/>
                  </a:moveTo>
                  <a:lnTo>
                    <a:pt x="292608" y="0"/>
                  </a:lnTo>
                  <a:lnTo>
                    <a:pt x="29260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37360" y="3474720"/>
            <a:ext cx="15361920" cy="2011680"/>
            <a:chOff x="0" y="0"/>
            <a:chExt cx="2048256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82561" cy="2682240"/>
            </a:xfrm>
            <a:custGeom>
              <a:avLst/>
              <a:gdLst/>
              <a:ahLst/>
              <a:cxnLst/>
              <a:rect l="l" t="t" r="r" b="b"/>
              <a:pathLst>
                <a:path w="20482561" h="2682240">
                  <a:moveTo>
                    <a:pt x="0" y="0"/>
                  </a:moveTo>
                  <a:lnTo>
                    <a:pt x="20482561" y="0"/>
                  </a:lnTo>
                  <a:lnTo>
                    <a:pt x="204825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794" b="-98794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42875"/>
              <a:ext cx="20482560" cy="2825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Perancangan dan Perangkingan Kabel LAN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7360" y="5577840"/>
            <a:ext cx="15361920" cy="1097280"/>
            <a:chOff x="0" y="0"/>
            <a:chExt cx="20482560" cy="14630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82561" cy="1463040"/>
            </a:xfrm>
            <a:custGeom>
              <a:avLst/>
              <a:gdLst/>
              <a:ahLst/>
              <a:cxnLst/>
              <a:rect l="l" t="t" r="r" b="b"/>
              <a:pathLst>
                <a:path w="20482561" h="1463040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048256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BFD7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Panduan merancang jaringan kabel dan membandingkan kategori kabel UTP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0"/>
            <a:ext cx="16459200" cy="1645920"/>
            <a:chOff x="0" y="0"/>
            <a:chExt cx="219456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Gambaran Umum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1703" y="2547623"/>
            <a:ext cx="5237483" cy="5877563"/>
            <a:chOff x="0" y="0"/>
            <a:chExt cx="6983311" cy="78367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3222" cy="7836662"/>
            </a:xfrm>
            <a:custGeom>
              <a:avLst/>
              <a:gdLst/>
              <a:ahLst/>
              <a:cxnLst/>
              <a:rect l="l" t="t" r="r" b="b"/>
              <a:pathLst>
                <a:path w="6983222" h="783666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6738239" y="0"/>
                  </a:lnTo>
                  <a:cubicBezTo>
                    <a:pt x="6873621" y="0"/>
                    <a:pt x="6983222" y="109728"/>
                    <a:pt x="6983222" y="244983"/>
                  </a:cubicBezTo>
                  <a:lnTo>
                    <a:pt x="6983222" y="7591679"/>
                  </a:lnTo>
                  <a:cubicBezTo>
                    <a:pt x="6983222" y="7727061"/>
                    <a:pt x="6873494" y="7836662"/>
                    <a:pt x="6738239" y="7836662"/>
                  </a:cubicBezTo>
                  <a:lnTo>
                    <a:pt x="244983" y="7836662"/>
                  </a:lnTo>
                  <a:cubicBezTo>
                    <a:pt x="109728" y="7836789"/>
                    <a:pt x="0" y="7727061"/>
                    <a:pt x="0" y="7591679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371600" y="3017520"/>
            <a:ext cx="1097280" cy="128016"/>
            <a:chOff x="0" y="0"/>
            <a:chExt cx="1463040" cy="1706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3040" cy="170688"/>
            </a:xfrm>
            <a:custGeom>
              <a:avLst/>
              <a:gdLst/>
              <a:ahLst/>
              <a:cxnLst/>
              <a:rect l="l" t="t" r="r" b="b"/>
              <a:pathLst>
                <a:path w="1463040" h="170688">
                  <a:moveTo>
                    <a:pt x="0" y="0"/>
                  </a:moveTo>
                  <a:lnTo>
                    <a:pt x="1463040" y="0"/>
                  </a:lnTo>
                  <a:lnTo>
                    <a:pt x="1463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71600" y="3383280"/>
            <a:ext cx="4389120" cy="914400"/>
            <a:chOff x="0" y="0"/>
            <a:chExt cx="585216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52160" cy="1219200"/>
            </a:xfrm>
            <a:custGeom>
              <a:avLst/>
              <a:gdLst/>
              <a:ahLst/>
              <a:cxnLst/>
              <a:rect l="l" t="t" r="r" b="b"/>
              <a:pathLst>
                <a:path w="5852160" h="121920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5852160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99"/>
                </a:lnSpc>
              </a:pPr>
              <a:r>
                <a:rPr lang="en-US" sz="39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Perancangan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4413885"/>
            <a:ext cx="4389120" cy="354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Menentukan kebutuhan, topologi, jalur, jarak, dan titik akses sebelum kabel dipasang.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6119" y="2547623"/>
            <a:ext cx="5237483" cy="5877563"/>
            <a:chOff x="0" y="0"/>
            <a:chExt cx="6983311" cy="7836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3222" cy="7836662"/>
            </a:xfrm>
            <a:custGeom>
              <a:avLst/>
              <a:gdLst/>
              <a:ahLst/>
              <a:cxnLst/>
              <a:rect l="l" t="t" r="r" b="b"/>
              <a:pathLst>
                <a:path w="6983222" h="783666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6738239" y="0"/>
                  </a:lnTo>
                  <a:cubicBezTo>
                    <a:pt x="6873621" y="0"/>
                    <a:pt x="6983222" y="109728"/>
                    <a:pt x="6983222" y="244983"/>
                  </a:cubicBezTo>
                  <a:lnTo>
                    <a:pt x="6983222" y="7591679"/>
                  </a:lnTo>
                  <a:cubicBezTo>
                    <a:pt x="6983222" y="7727061"/>
                    <a:pt x="6873494" y="7836662"/>
                    <a:pt x="6738239" y="7836662"/>
                  </a:cubicBezTo>
                  <a:lnTo>
                    <a:pt x="244983" y="7836662"/>
                  </a:lnTo>
                  <a:cubicBezTo>
                    <a:pt x="109728" y="7836789"/>
                    <a:pt x="0" y="7727061"/>
                    <a:pt x="0" y="7591679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986016" y="3017520"/>
            <a:ext cx="1097280" cy="128016"/>
            <a:chOff x="0" y="0"/>
            <a:chExt cx="1463040" cy="1706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" cy="170688"/>
            </a:xfrm>
            <a:custGeom>
              <a:avLst/>
              <a:gdLst/>
              <a:ahLst/>
              <a:cxnLst/>
              <a:rect l="l" t="t" r="r" b="b"/>
              <a:pathLst>
                <a:path w="1463040" h="170688">
                  <a:moveTo>
                    <a:pt x="0" y="0"/>
                  </a:moveTo>
                  <a:lnTo>
                    <a:pt x="1463040" y="0"/>
                  </a:lnTo>
                  <a:lnTo>
                    <a:pt x="1463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986016" y="3383280"/>
            <a:ext cx="4389120" cy="914400"/>
            <a:chOff x="0" y="0"/>
            <a:chExt cx="585216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52160" cy="1219200"/>
            </a:xfrm>
            <a:custGeom>
              <a:avLst/>
              <a:gdLst/>
              <a:ahLst/>
              <a:cxnLst/>
              <a:rect l="l" t="t" r="r" b="b"/>
              <a:pathLst>
                <a:path w="5852160" h="121920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5852160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99"/>
                </a:lnSpc>
              </a:pPr>
              <a:r>
                <a:rPr lang="en-US" sz="39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Perangkingan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86016" y="4413885"/>
            <a:ext cx="4389120" cy="354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Membandingkan kategori kabel (Cat5e–Cat8) berdasarkan kecepatan, frekuensi, jarak, dan biaya.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130535" y="2547623"/>
            <a:ext cx="5237483" cy="5877563"/>
            <a:chOff x="0" y="0"/>
            <a:chExt cx="6983311" cy="78367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3222" cy="7836662"/>
            </a:xfrm>
            <a:custGeom>
              <a:avLst/>
              <a:gdLst/>
              <a:ahLst/>
              <a:cxnLst/>
              <a:rect l="l" t="t" r="r" b="b"/>
              <a:pathLst>
                <a:path w="6983222" h="783666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6738239" y="0"/>
                  </a:lnTo>
                  <a:cubicBezTo>
                    <a:pt x="6873621" y="0"/>
                    <a:pt x="6983222" y="109728"/>
                    <a:pt x="6983222" y="244983"/>
                  </a:cubicBezTo>
                  <a:lnTo>
                    <a:pt x="6983222" y="7591679"/>
                  </a:lnTo>
                  <a:cubicBezTo>
                    <a:pt x="6983222" y="7727061"/>
                    <a:pt x="6873494" y="7836662"/>
                    <a:pt x="6738239" y="7836662"/>
                  </a:cubicBezTo>
                  <a:lnTo>
                    <a:pt x="244983" y="7836662"/>
                  </a:lnTo>
                  <a:cubicBezTo>
                    <a:pt x="109728" y="7836789"/>
                    <a:pt x="0" y="7727061"/>
                    <a:pt x="0" y="7591679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2600432" y="3017520"/>
            <a:ext cx="1097280" cy="128016"/>
            <a:chOff x="0" y="0"/>
            <a:chExt cx="1463040" cy="1706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63040" cy="170688"/>
            </a:xfrm>
            <a:custGeom>
              <a:avLst/>
              <a:gdLst/>
              <a:ahLst/>
              <a:cxnLst/>
              <a:rect l="l" t="t" r="r" b="b"/>
              <a:pathLst>
                <a:path w="1463040" h="170688">
                  <a:moveTo>
                    <a:pt x="0" y="0"/>
                  </a:moveTo>
                  <a:lnTo>
                    <a:pt x="1463040" y="0"/>
                  </a:lnTo>
                  <a:lnTo>
                    <a:pt x="1463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600432" y="3383280"/>
            <a:ext cx="4389120" cy="914400"/>
            <a:chOff x="0" y="0"/>
            <a:chExt cx="585216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52160" cy="1219200"/>
            </a:xfrm>
            <a:custGeom>
              <a:avLst/>
              <a:gdLst/>
              <a:ahLst/>
              <a:cxnLst/>
              <a:rect l="l" t="t" r="r" b="b"/>
              <a:pathLst>
                <a:path w="5852160" h="121920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5852160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99"/>
                </a:lnSpc>
              </a:pPr>
              <a:r>
                <a:rPr lang="en-US" sz="39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Tujuan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600432" y="4413885"/>
            <a:ext cx="4389120" cy="354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Jaringan stabil, mudah dirawat, siap dikembangkan, dan sesuai anggaran.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0"/>
            <a:ext cx="16459200" cy="1645920"/>
            <a:chOff x="0" y="0"/>
            <a:chExt cx="219456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Tahapan Perancangan Kabel LAN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7280" y="2194560"/>
            <a:ext cx="1005840" cy="1005840"/>
            <a:chOff x="0" y="0"/>
            <a:chExt cx="1341120" cy="1341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97280" y="2194560"/>
            <a:ext cx="1005840" cy="1005840"/>
            <a:chOff x="0" y="0"/>
            <a:chExt cx="134112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60320" y="2103120"/>
            <a:ext cx="5303520" cy="1188720"/>
            <a:chOff x="0" y="0"/>
            <a:chExt cx="7071360" cy="1584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71360" cy="1584960"/>
            </a:xfrm>
            <a:custGeom>
              <a:avLst/>
              <a:gdLst/>
              <a:ahLst/>
              <a:cxnLst/>
              <a:rect l="l" t="t" r="r" b="b"/>
              <a:pathLst>
                <a:path w="7071360" h="15849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933" b="-3693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Analisis kebutuhan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63840" y="2103120"/>
            <a:ext cx="9509760" cy="1188720"/>
            <a:chOff x="0" y="0"/>
            <a:chExt cx="12679680" cy="1584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79680" cy="1584960"/>
            </a:xfrm>
            <a:custGeom>
              <a:avLst/>
              <a:gdLst/>
              <a:ahLst/>
              <a:cxnLst/>
              <a:rect l="l" t="t" r="r" b="b"/>
              <a:pathLst>
                <a:path w="12679680" h="158496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Jumlah pengguna, aplikasi, bandwidth, dan rencana pertumbuhan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7280" y="3730752"/>
            <a:ext cx="1005840" cy="1005840"/>
            <a:chOff x="0" y="0"/>
            <a:chExt cx="1341120" cy="1341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3730752"/>
            <a:ext cx="1005840" cy="1005840"/>
            <a:chOff x="0" y="0"/>
            <a:chExt cx="134112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560320" y="3639312"/>
            <a:ext cx="5303520" cy="1188720"/>
            <a:chOff x="0" y="0"/>
            <a:chExt cx="7071360" cy="1584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71360" cy="1584960"/>
            </a:xfrm>
            <a:custGeom>
              <a:avLst/>
              <a:gdLst/>
              <a:ahLst/>
              <a:cxnLst/>
              <a:rect l="l" t="t" r="r" b="b"/>
              <a:pathLst>
                <a:path w="7071360" h="15849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933" b="-3693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Survei lokasi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863840" y="3639312"/>
            <a:ext cx="9509760" cy="1188720"/>
            <a:chOff x="0" y="0"/>
            <a:chExt cx="12679680" cy="15849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679680" cy="1584960"/>
            </a:xfrm>
            <a:custGeom>
              <a:avLst/>
              <a:gdLst/>
              <a:ahLst/>
              <a:cxnLst/>
              <a:rect l="l" t="t" r="r" b="b"/>
              <a:pathLst>
                <a:path w="12679680" h="158496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Denah gedung, jalur kabel, ruang rack, sumber listrik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7280" y="5266944"/>
            <a:ext cx="1005840" cy="1005840"/>
            <a:chOff x="0" y="0"/>
            <a:chExt cx="1341120" cy="1341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97280" y="5266944"/>
            <a:ext cx="1005840" cy="1005840"/>
            <a:chOff x="0" y="0"/>
            <a:chExt cx="1341120" cy="1341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560320" y="5175504"/>
            <a:ext cx="5303520" cy="1188720"/>
            <a:chOff x="0" y="0"/>
            <a:chExt cx="7071360" cy="15849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071360" cy="1584960"/>
            </a:xfrm>
            <a:custGeom>
              <a:avLst/>
              <a:gdLst/>
              <a:ahLst/>
              <a:cxnLst/>
              <a:rect l="l" t="t" r="r" b="b"/>
              <a:pathLst>
                <a:path w="7071360" h="15849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933" b="-3693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Desain topologi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63840" y="5175504"/>
            <a:ext cx="9509760" cy="1188720"/>
            <a:chOff x="0" y="0"/>
            <a:chExt cx="12679680" cy="15849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679680" cy="1584960"/>
            </a:xfrm>
            <a:custGeom>
              <a:avLst/>
              <a:gdLst/>
              <a:ahLst/>
              <a:cxnLst/>
              <a:rect l="l" t="t" r="r" b="b"/>
              <a:pathLst>
                <a:path w="12679680" h="158496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 dengan switch utama dan switch distribusi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7280" y="6803136"/>
            <a:ext cx="1005840" cy="1005840"/>
            <a:chOff x="0" y="0"/>
            <a:chExt cx="1341120" cy="13411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97280" y="6803136"/>
            <a:ext cx="1005840" cy="1005840"/>
            <a:chOff x="0" y="0"/>
            <a:chExt cx="1341120" cy="1341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560320" y="6711696"/>
            <a:ext cx="5303520" cy="1188720"/>
            <a:chOff x="0" y="0"/>
            <a:chExt cx="7071360" cy="15849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071360" cy="1584960"/>
            </a:xfrm>
            <a:custGeom>
              <a:avLst/>
              <a:gdLst/>
              <a:ahLst/>
              <a:cxnLst/>
              <a:rect l="l" t="t" r="r" b="b"/>
              <a:pathLst>
                <a:path w="7071360" h="15849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933" b="-3693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Pilih kabel &amp; perangkat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863840" y="6711696"/>
            <a:ext cx="9509760" cy="1188720"/>
            <a:chOff x="0" y="0"/>
            <a:chExt cx="12679680" cy="15849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679680" cy="1584960"/>
            </a:xfrm>
            <a:custGeom>
              <a:avLst/>
              <a:gdLst/>
              <a:ahLst/>
              <a:cxnLst/>
              <a:rect l="l" t="t" r="r" b="b"/>
              <a:pathLst>
                <a:path w="12679680" h="158496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Kategori kabel, konektor, patch panel, switch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97280" y="8339328"/>
            <a:ext cx="1005840" cy="1005840"/>
            <a:chOff x="0" y="0"/>
            <a:chExt cx="1341120" cy="13411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97280" y="8339328"/>
            <a:ext cx="1005840" cy="1005840"/>
            <a:chOff x="0" y="0"/>
            <a:chExt cx="1341120" cy="13411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560320" y="8247888"/>
            <a:ext cx="5303520" cy="1188720"/>
            <a:chOff x="0" y="0"/>
            <a:chExt cx="7071360" cy="15849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071360" cy="1584960"/>
            </a:xfrm>
            <a:custGeom>
              <a:avLst/>
              <a:gdLst/>
              <a:ahLst/>
              <a:cxnLst/>
              <a:rect l="l" t="t" r="r" b="b"/>
              <a:pathLst>
                <a:path w="7071360" h="15849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933" b="-3693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Instalasi &amp; pengujian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863840" y="8247888"/>
            <a:ext cx="9509760" cy="1188720"/>
            <a:chOff x="0" y="0"/>
            <a:chExt cx="12679680" cy="15849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679680" cy="1584960"/>
            </a:xfrm>
            <a:custGeom>
              <a:avLst/>
              <a:gdLst/>
              <a:ahLst/>
              <a:cxnLst/>
              <a:rect l="l" t="t" r="r" b="b"/>
              <a:pathLst>
                <a:path w="12679680" h="158496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Pemasangan rapi, pelabelan, uji dengan LAN tester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0"/>
            <a:ext cx="16459200" cy="1645920"/>
            <a:chOff x="0" y="0"/>
            <a:chExt cx="219456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Aturan Penting dalam Desain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1703" y="2364743"/>
            <a:ext cx="8072123" cy="2860043"/>
            <a:chOff x="0" y="0"/>
            <a:chExt cx="10762831" cy="38133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62742" cy="3813302"/>
            </a:xfrm>
            <a:custGeom>
              <a:avLst/>
              <a:gdLst/>
              <a:ahLst/>
              <a:cxnLst/>
              <a:rect l="l" t="t" r="r" b="b"/>
              <a:pathLst>
                <a:path w="10762742" h="381330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371600" y="2651760"/>
            <a:ext cx="7132320" cy="1005840"/>
            <a:chOff x="0" y="0"/>
            <a:chExt cx="950976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09760" cy="1341120"/>
            </a:xfrm>
            <a:custGeom>
              <a:avLst/>
              <a:gdLst/>
              <a:ahLst/>
              <a:cxnLst/>
              <a:rect l="l" t="t" r="r" b="b"/>
              <a:pathLst>
                <a:path w="9509760" h="134112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 m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71600" y="3682365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Panjang maksimum satu segmen kabel UTP (permanent link + patch cord)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14183" y="2364743"/>
            <a:ext cx="8072123" cy="2860043"/>
            <a:chOff x="0" y="0"/>
            <a:chExt cx="10762831" cy="38133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62742" cy="3813302"/>
            </a:xfrm>
            <a:custGeom>
              <a:avLst/>
              <a:gdLst/>
              <a:ahLst/>
              <a:cxnLst/>
              <a:rect l="l" t="t" r="r" b="b"/>
              <a:pathLst>
                <a:path w="10762742" h="381330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784080" y="2651760"/>
            <a:ext cx="7132320" cy="1005840"/>
            <a:chOff x="0" y="0"/>
            <a:chExt cx="9509760" cy="1341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09760" cy="1341120"/>
            </a:xfrm>
            <a:custGeom>
              <a:avLst/>
              <a:gdLst/>
              <a:ahLst/>
              <a:cxnLst/>
              <a:rect l="l" t="t" r="r" b="b"/>
              <a:pathLst>
                <a:path w="9509760" h="134112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T568B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784080" y="3682365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 urutan warna kabel yang umum dipakai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1703" y="5656583"/>
            <a:ext cx="8072123" cy="2860043"/>
            <a:chOff x="0" y="0"/>
            <a:chExt cx="10762831" cy="38133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62742" cy="3813302"/>
            </a:xfrm>
            <a:custGeom>
              <a:avLst/>
              <a:gdLst/>
              <a:ahLst/>
              <a:cxnLst/>
              <a:rect l="l" t="t" r="r" b="b"/>
              <a:pathLst>
                <a:path w="10762742" h="381330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371600" y="5943600"/>
            <a:ext cx="7132320" cy="1005840"/>
            <a:chOff x="0" y="0"/>
            <a:chExt cx="9509760" cy="1341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09760" cy="1341120"/>
            </a:xfrm>
            <a:custGeom>
              <a:avLst/>
              <a:gdLst/>
              <a:ahLst/>
              <a:cxnLst/>
              <a:rect l="l" t="t" r="r" b="b"/>
              <a:pathLst>
                <a:path w="9509760" h="134112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Jauhi EMI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71600" y="6974205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Pisahkan dari kabel listrik dan sumber interferensi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14183" y="5656583"/>
            <a:ext cx="8072123" cy="2860043"/>
            <a:chOff x="0" y="0"/>
            <a:chExt cx="10762831" cy="381339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62742" cy="3813302"/>
            </a:xfrm>
            <a:custGeom>
              <a:avLst/>
              <a:gdLst/>
              <a:ahLst/>
              <a:cxnLst/>
              <a:rect l="l" t="t" r="r" b="b"/>
              <a:pathLst>
                <a:path w="10762742" h="381330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784080" y="5943600"/>
            <a:ext cx="7132320" cy="1005840"/>
            <a:chOff x="0" y="0"/>
            <a:chExt cx="9509760" cy="13411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509760" cy="1341120"/>
            </a:xfrm>
            <a:custGeom>
              <a:avLst/>
              <a:gdLst/>
              <a:ahLst/>
              <a:cxnLst/>
              <a:rect l="l" t="t" r="r" b="b"/>
              <a:pathLst>
                <a:path w="9509760" h="134112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Label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84080" y="6974205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Beri label di kedua ujung kabel dan patch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0"/>
            <a:ext cx="16459200" cy="1645920"/>
            <a:chOff x="0" y="0"/>
            <a:chExt cx="219456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Perangkingan Kategori Kabel LAN</a:t>
              </a: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14400" y="2194560"/>
          <a:ext cx="16383000" cy="5943600"/>
        </p:xfrm>
        <a:graphic>
          <a:graphicData uri="http://schemas.openxmlformats.org/drawingml/2006/table">
            <a:tbl>
              <a:tblPr/>
              <a:tblGrid>
                <a:gridCol w="2015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1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1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879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Peringkat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Kategori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Kecepatan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Frekuensi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Jarak maks.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Biaya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Cat8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25/40 Gbps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2000 MHz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 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Sangat tinggi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Cat7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 Gbps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600 MHz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Tinggi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Cat6a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 Gbps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500 MHz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Menengah-tinggi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Cat6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Gbps (10G ≤55 m)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250 MHz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Menengah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Cat5e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Gbps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MHz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Rendah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914400" y="8595360"/>
            <a:ext cx="16459200" cy="731520"/>
            <a:chOff x="0" y="0"/>
            <a:chExt cx="2194560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Peringkat berdasarkan kinerja teknis; Cat8 umumnya dipakai di data center, bukan jaringan kantor biasa.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0"/>
            <a:ext cx="16459200" cy="1645920"/>
            <a:chOff x="0" y="0"/>
            <a:chExt cx="219456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Rekomendasi Pemilihan Kabel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1703" y="2181863"/>
            <a:ext cx="16484603" cy="1488443"/>
            <a:chOff x="0" y="0"/>
            <a:chExt cx="21979471" cy="19845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79510" cy="1984629"/>
            </a:xfrm>
            <a:custGeom>
              <a:avLst/>
              <a:gdLst/>
              <a:ahLst/>
              <a:cxnLst/>
              <a:rect l="l" t="t" r="r" b="b"/>
              <a:pathLst>
                <a:path w="21979510" h="1984629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14400" y="2194560"/>
            <a:ext cx="182880" cy="1463040"/>
            <a:chOff x="0" y="0"/>
            <a:chExt cx="243840" cy="1950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" cy="1950720"/>
            </a:xfrm>
            <a:custGeom>
              <a:avLst/>
              <a:gdLst/>
              <a:ahLst/>
              <a:cxnLst/>
              <a:rect l="l" t="t" r="r" b="b"/>
              <a:pathLst>
                <a:path w="243840" h="195072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554480" y="2194560"/>
            <a:ext cx="8046720" cy="1463040"/>
            <a:chOff x="0" y="0"/>
            <a:chExt cx="10728960" cy="1950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8960" cy="1950720"/>
            </a:xfrm>
            <a:custGeom>
              <a:avLst/>
              <a:gdLst/>
              <a:ahLst/>
              <a:cxnLst/>
              <a:rect l="l" t="t" r="r" b="b"/>
              <a:pathLst>
                <a:path w="10728960" h="195072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Rumah / kantor kecil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92640" y="2194560"/>
            <a:ext cx="7498080" cy="1463040"/>
            <a:chOff x="0" y="0"/>
            <a:chExt cx="9997440" cy="1950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97440" cy="1950720"/>
            </a:xfrm>
            <a:custGeom>
              <a:avLst/>
              <a:gdLst/>
              <a:ahLst/>
              <a:cxnLst/>
              <a:rect l="l" t="t" r="r" b="b"/>
              <a:pathLst>
                <a:path w="9997440" h="195072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Cat5e atau Cat6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1703" y="3919223"/>
            <a:ext cx="16484603" cy="1488443"/>
            <a:chOff x="0" y="0"/>
            <a:chExt cx="21979471" cy="19845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79510" cy="1984629"/>
            </a:xfrm>
            <a:custGeom>
              <a:avLst/>
              <a:gdLst/>
              <a:ahLst/>
              <a:cxnLst/>
              <a:rect l="l" t="t" r="r" b="b"/>
              <a:pathLst>
                <a:path w="21979510" h="1984629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14400" y="3931920"/>
            <a:ext cx="182880" cy="1463040"/>
            <a:chOff x="0" y="0"/>
            <a:chExt cx="243840" cy="19507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40" cy="1950720"/>
            </a:xfrm>
            <a:custGeom>
              <a:avLst/>
              <a:gdLst/>
              <a:ahLst/>
              <a:cxnLst/>
              <a:rect l="l" t="t" r="r" b="b"/>
              <a:pathLst>
                <a:path w="243840" h="195072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554480" y="3931920"/>
            <a:ext cx="8046720" cy="1463040"/>
            <a:chOff x="0" y="0"/>
            <a:chExt cx="10728960" cy="1950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28960" cy="1950720"/>
            </a:xfrm>
            <a:custGeom>
              <a:avLst/>
              <a:gdLst/>
              <a:ahLst/>
              <a:cxnLst/>
              <a:rect l="l" t="t" r="r" b="b"/>
              <a:pathLst>
                <a:path w="10728960" h="195072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Kantor menengah &amp; sekolah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92640" y="3931920"/>
            <a:ext cx="7498080" cy="1463040"/>
            <a:chOff x="0" y="0"/>
            <a:chExt cx="9997440" cy="19507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97440" cy="1950720"/>
            </a:xfrm>
            <a:custGeom>
              <a:avLst/>
              <a:gdLst/>
              <a:ahLst/>
              <a:cxnLst/>
              <a:rect l="l" t="t" r="r" b="b"/>
              <a:pathLst>
                <a:path w="9997440" h="195072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Cat6 (siap upgrade)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01703" y="5656583"/>
            <a:ext cx="16484603" cy="1488443"/>
            <a:chOff x="0" y="0"/>
            <a:chExt cx="21979471" cy="198459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79510" cy="1984629"/>
            </a:xfrm>
            <a:custGeom>
              <a:avLst/>
              <a:gdLst/>
              <a:ahLst/>
              <a:cxnLst/>
              <a:rect l="l" t="t" r="r" b="b"/>
              <a:pathLst>
                <a:path w="21979510" h="1984629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14400" y="5669280"/>
            <a:ext cx="182880" cy="1463040"/>
            <a:chOff x="0" y="0"/>
            <a:chExt cx="243840" cy="1950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3840" cy="1950720"/>
            </a:xfrm>
            <a:custGeom>
              <a:avLst/>
              <a:gdLst/>
              <a:ahLst/>
              <a:cxnLst/>
              <a:rect l="l" t="t" r="r" b="b"/>
              <a:pathLst>
                <a:path w="243840" h="195072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54480" y="5669280"/>
            <a:ext cx="8046720" cy="1463040"/>
            <a:chOff x="0" y="0"/>
            <a:chExt cx="10728960" cy="19507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28960" cy="1950720"/>
            </a:xfrm>
            <a:custGeom>
              <a:avLst/>
              <a:gdLst/>
              <a:ahLst/>
              <a:cxnLst/>
              <a:rect l="l" t="t" r="r" b="b"/>
              <a:pathLst>
                <a:path w="10728960" h="195072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Backbone &amp; server room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92640" y="5669280"/>
            <a:ext cx="7498080" cy="1463040"/>
            <a:chOff x="0" y="0"/>
            <a:chExt cx="9997440" cy="1950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97440" cy="1950720"/>
            </a:xfrm>
            <a:custGeom>
              <a:avLst/>
              <a:gdLst/>
              <a:ahLst/>
              <a:cxnLst/>
              <a:rect l="l" t="t" r="r" b="b"/>
              <a:pathLst>
                <a:path w="9997440" h="195072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Cat6a atau serat optik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01703" y="7393943"/>
            <a:ext cx="16484603" cy="1488443"/>
            <a:chOff x="0" y="0"/>
            <a:chExt cx="21979471" cy="198459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79510" cy="1984629"/>
            </a:xfrm>
            <a:custGeom>
              <a:avLst/>
              <a:gdLst/>
              <a:ahLst/>
              <a:cxnLst/>
              <a:rect l="l" t="t" r="r" b="b"/>
              <a:pathLst>
                <a:path w="21979510" h="1984629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14400" y="7406640"/>
            <a:ext cx="182880" cy="1463040"/>
            <a:chOff x="0" y="0"/>
            <a:chExt cx="243840" cy="19507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3840" cy="1950720"/>
            </a:xfrm>
            <a:custGeom>
              <a:avLst/>
              <a:gdLst/>
              <a:ahLst/>
              <a:cxnLst/>
              <a:rect l="l" t="t" r="r" b="b"/>
              <a:pathLst>
                <a:path w="243840" h="195072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554480" y="7406640"/>
            <a:ext cx="8046720" cy="1463040"/>
            <a:chOff x="0" y="0"/>
            <a:chExt cx="10728960" cy="19507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728960" cy="1950720"/>
            </a:xfrm>
            <a:custGeom>
              <a:avLst/>
              <a:gdLst/>
              <a:ahLst/>
              <a:cxnLst/>
              <a:rect l="l" t="t" r="r" b="b"/>
              <a:pathLst>
                <a:path w="10728960" h="195072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center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92640" y="7406640"/>
            <a:ext cx="7498080" cy="1463040"/>
            <a:chOff x="0" y="0"/>
            <a:chExt cx="9997440" cy="1950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997440" cy="1950720"/>
            </a:xfrm>
            <a:custGeom>
              <a:avLst/>
              <a:gdLst/>
              <a:ahLst/>
              <a:cxnLst/>
              <a:rect l="l" t="t" r="r" b="b"/>
              <a:pathLst>
                <a:path w="9997440" h="195072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Cat8 atau serat optik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1280160"/>
            <a:ext cx="16093440" cy="1463040"/>
            <a:chOff x="0" y="0"/>
            <a:chExt cx="21457920" cy="1950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950720"/>
            </a:xfrm>
            <a:custGeom>
              <a:avLst/>
              <a:gdLst/>
              <a:ahLst/>
              <a:cxnLst/>
              <a:rect l="l" t="t" r="r" b="b"/>
              <a:pathLst>
                <a:path w="21457920" h="1950720">
                  <a:moveTo>
                    <a:pt x="0" y="0"/>
                  </a:moveTo>
                  <a:lnTo>
                    <a:pt x="21457920" y="0"/>
                  </a:lnTo>
                  <a:lnTo>
                    <a:pt x="21457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457920" cy="2093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79"/>
                </a:lnSpc>
              </a:pPr>
              <a:r>
                <a:rPr lang="en-US" sz="6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Kesimpulan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3023235"/>
            <a:ext cx="16093440" cy="55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5199" lvl="1" indent="-4826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Rancang jaringan dari kebutuhan nyata dan rencana pertumbuhan.</a:t>
            </a:r>
          </a:p>
          <a:p>
            <a:pPr marL="965199" lvl="1" indent="-4826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Patuhi batas 100 m, standar T568B, dan pemisahan dari kabel listrik.</a:t>
            </a:r>
          </a:p>
          <a:p>
            <a:pPr marL="965199" lvl="1" indent="-4826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Pilih kategori kabel yang seimbang antara kinerja dan biaya.</a:t>
            </a:r>
          </a:p>
          <a:p>
            <a:pPr marL="965199" lvl="1" indent="-4826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Uji dan beri label semua kabel agar mudah dirawat.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Custom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 (MS) Bold</vt:lpstr>
      <vt:lpstr>Calibri</vt:lpstr>
      <vt:lpstr>Calibri (MS)</vt:lpstr>
      <vt:lpstr>Calibri (MS)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Perancangan_Perangkingan_Kabel_LAN.pptx</dc:title>
  <dc:creator>IMAM</dc:creator>
  <cp:lastModifiedBy>alfi syahri</cp:lastModifiedBy>
  <cp:revision>1</cp:revision>
  <dcterms:created xsi:type="dcterms:W3CDTF">2006-08-16T00:00:00Z</dcterms:created>
  <dcterms:modified xsi:type="dcterms:W3CDTF">2026-10-06T06:33:57Z</dcterms:modified>
  <dc:identifier>DAHXDSwkAdk</dc:identifier>
</cp:coreProperties>
</file>